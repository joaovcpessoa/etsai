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26.jpeg" ContentType="image/jpeg"/>
  <Override PartName="/ppt/media/image23.jpeg" ContentType="image/jpeg"/>
  <Override PartName="/ppt/media/image21.jpeg" ContentType="image/jpeg"/>
  <Override PartName="/ppt/media/image6.png" ContentType="image/png"/>
  <Override PartName="/ppt/media/image4.png" ContentType="image/png"/>
  <Override PartName="/ppt/media/image1.png" ContentType="image/png"/>
  <Override PartName="/ppt/media/image7.png" ContentType="image/png"/>
  <Override PartName="/ppt/media/image8.png" ContentType="image/png"/>
  <Override PartName="/ppt/media/image16.jpeg" ContentType="image/jpeg"/>
  <Override PartName="/ppt/media/image12.jpeg" ContentType="image/jpeg"/>
  <Override PartName="/ppt/media/image25.png" ContentType="image/png"/>
  <Override PartName="/ppt/media/image24.png" ContentType="image/png"/>
  <Override PartName="/ppt/media/image22.png" ContentType="image/png"/>
  <Override PartName="/ppt/media/image20.png" ContentType="image/png"/>
  <Override PartName="/ppt/media/image19.png" ContentType="image/png"/>
  <Override PartName="/ppt/media/image18.png" ContentType="image/png"/>
  <Override PartName="/ppt/media/image17.png" ContentType="image/png"/>
  <Override PartName="/ppt/media/image5.jpeg" ContentType="image/jpeg"/>
  <Override PartName="/ppt/media/image3.jpeg" ContentType="image/jpeg"/>
  <Override PartName="/ppt/media/image11.png" ContentType="image/png"/>
  <Override PartName="/ppt/media/image15.png" ContentType="image/png"/>
  <Override PartName="/ppt/media/image2.jpeg" ContentType="image/jpeg"/>
  <Override PartName="/ppt/media/image9.jpeg" ContentType="image/jpeg"/>
  <Override PartName="/ppt/media/image10.png" ContentType="image/png"/>
  <Override PartName="/ppt/media/image13.png" ContentType="image/png"/>
  <Override PartName="/ppt/media/image14.png" ContentType="image/png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entation.xml" ContentType="application/vnd.openxmlformats-officedocument.presentationml.presentation.main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6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8288000" cy="10287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971E6C4A-D17A-4C18-BC90-569A743B378D}" type="slidenum">
              <a:rPr b="0" lang="en-US" sz="1400" spc="-1" strike="noStrike">
                <a:latin typeface="Times New Roman"/>
              </a:rPr>
              <a:t>1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7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4F9371B-C517-4FFD-8F76-6EF43023957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8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C46B1E8E-6BC6-44DA-8664-149F8DB004A8}" type="slidenum">
              <a:rPr b="0" lang="en-US" sz="1200" spc="-1" strike="noStrike">
                <a:latin typeface="Times New Roman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8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55C4B8B5-A64B-4BF0-BDDB-F44F57D1C8C1}" type="slidenum">
              <a:rPr b="0" lang="en-US" sz="1200" spc="-1" strike="noStrike">
                <a:latin typeface="Times New Roman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8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A76C7BE-D68D-4956-ACF7-338AA5982F94}" type="slidenum">
              <a:rPr b="0" lang="en-US" sz="1200" spc="-1" strike="noStrike">
                <a:latin typeface="Times New Roman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9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3BA7E03D-E911-41BC-BCEF-01035D06032C}" type="slidenum">
              <a:rPr b="0" lang="en-US" sz="1200" spc="-1" strike="noStrike">
                <a:latin typeface="Times New Roman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2C5560B2-9B50-4B27-BDE1-406972A7AF27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10/23/25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2C66E656-6214-40DE-9658-C9FADE48CEE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jpe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jpe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m 12" descr=""/>
          <p:cNvPicPr/>
          <p:nvPr/>
        </p:nvPicPr>
        <p:blipFill>
          <a:blip r:embed="rId1"/>
          <a:stretch/>
        </p:blipFill>
        <p:spPr>
          <a:xfrm>
            <a:off x="3600" y="3960"/>
            <a:ext cx="18280800" cy="10278720"/>
          </a:xfrm>
          <a:prstGeom prst="rect">
            <a:avLst/>
          </a:prstGeom>
          <a:ln>
            <a:noFill/>
          </a:ln>
        </p:spPr>
      </p:pic>
      <p:sp>
        <p:nvSpPr>
          <p:cNvPr id="86" name="CustomShape 1"/>
          <p:cNvSpPr/>
          <p:nvPr/>
        </p:nvSpPr>
        <p:spPr>
          <a:xfrm>
            <a:off x="5242320" y="4040280"/>
            <a:ext cx="7803000" cy="109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7200" spc="-1" strike="noStrike">
                <a:solidFill>
                  <a:srgbClr val="231f20"/>
                </a:solidFill>
                <a:latin typeface="Montserrat"/>
                <a:ea typeface="Noto Sans"/>
              </a:rPr>
              <a:t>Saliency Maps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5466600" y="5400000"/>
            <a:ext cx="7645320" cy="42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31f20"/>
                </a:solidFill>
                <a:latin typeface="Montserrat"/>
                <a:ea typeface="Noto Sans"/>
              </a:rPr>
              <a:t> </a:t>
            </a:r>
            <a:r>
              <a:rPr b="0" lang="en-US" sz="2800" spc="-1" strike="noStrike">
                <a:solidFill>
                  <a:srgbClr val="231f20"/>
                </a:solidFill>
                <a:latin typeface="Montserrat"/>
                <a:ea typeface="Noto Sans"/>
              </a:rPr>
              <a:t>João Vítor C. Pessoa, Breno de Lima Galves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8" name="CustomShape 3"/>
          <p:cNvSpPr/>
          <p:nvPr/>
        </p:nvSpPr>
        <p:spPr>
          <a:xfrm>
            <a:off x="5145480" y="5870160"/>
            <a:ext cx="8286840" cy="427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800" spc="-1" strike="noStrike">
                <a:solidFill>
                  <a:srgbClr val="231f20"/>
                </a:solidFill>
                <a:latin typeface="Montserrat"/>
                <a:ea typeface="Noto Sans"/>
              </a:rPr>
              <a:t> </a:t>
            </a:r>
            <a:r>
              <a:rPr b="0" lang="en-US" sz="2800" spc="-1" strike="noStrike">
                <a:solidFill>
                  <a:srgbClr val="231f20"/>
                </a:solidFill>
                <a:latin typeface="Montserrat"/>
                <a:ea typeface="Noto Sans"/>
              </a:rPr>
              <a:t>Universidade Federal do Rio de Janeiro (UFRJ)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1"/>
          <p:cNvGrpSpPr/>
          <p:nvPr/>
        </p:nvGrpSpPr>
        <p:grpSpPr>
          <a:xfrm>
            <a:off x="579600" y="1836000"/>
            <a:ext cx="1022400" cy="4199040"/>
            <a:chOff x="579600" y="1836000"/>
            <a:chExt cx="1022400" cy="4199040"/>
          </a:xfrm>
        </p:grpSpPr>
        <p:sp>
          <p:nvSpPr>
            <p:cNvPr id="90" name="CustomShape 2"/>
            <p:cNvSpPr/>
            <p:nvPr/>
          </p:nvSpPr>
          <p:spPr>
            <a:xfrm>
              <a:off x="579600" y="1940760"/>
              <a:ext cx="1022400" cy="4094280"/>
            </a:xfrm>
            <a:custGeom>
              <a:avLst/>
              <a:gdLst/>
              <a:ahLst/>
              <a:rect l="l" t="t" r="r" b="b"/>
              <a:pathLst>
                <a:path w="242193" h="1488314">
                  <a:moveTo>
                    <a:pt x="0" y="0"/>
                  </a:moveTo>
                  <a:lnTo>
                    <a:pt x="242193" y="0"/>
                  </a:lnTo>
                  <a:lnTo>
                    <a:pt x="242193" y="1488314"/>
                  </a:lnTo>
                  <a:lnTo>
                    <a:pt x="0" y="1488314"/>
                  </a:lnTo>
                  <a:close/>
                </a:path>
              </a:pathLst>
            </a:custGeom>
            <a:solidFill>
              <a:srgbClr val="b2223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CustomShape 3"/>
            <p:cNvSpPr/>
            <p:nvPr/>
          </p:nvSpPr>
          <p:spPr>
            <a:xfrm>
              <a:off x="579600" y="1836000"/>
              <a:ext cx="1022400" cy="4199040"/>
            </a:xfrm>
            <a:prstGeom prst="rect">
              <a:avLst/>
            </a:prstGeom>
            <a:solidFill>
              <a:srgbClr val="b22232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2" name="CustomShape 4"/>
          <p:cNvSpPr/>
          <p:nvPr/>
        </p:nvSpPr>
        <p:spPr>
          <a:xfrm>
            <a:off x="1877400" y="2826360"/>
            <a:ext cx="15122880" cy="49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864"/>
              </a:lnSpc>
            </a:pPr>
            <a:r>
              <a:rPr b="1" lang="en-US" sz="2800" spc="273" strike="noStrike">
                <a:solidFill>
                  <a:srgbClr val="231f20"/>
                </a:solidFill>
                <a:latin typeface="Montserrat"/>
                <a:ea typeface="Lato"/>
              </a:rPr>
              <a:t>TYPES OF SALIENCY MAPS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3" name="CustomShape 5"/>
          <p:cNvSpPr/>
          <p:nvPr/>
        </p:nvSpPr>
        <p:spPr>
          <a:xfrm>
            <a:off x="1877400" y="3652560"/>
            <a:ext cx="15122880" cy="49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864"/>
              </a:lnSpc>
            </a:pPr>
            <a:r>
              <a:rPr b="1" lang="en-US" sz="2800" spc="273" strike="noStrike">
                <a:solidFill>
                  <a:srgbClr val="231f20"/>
                </a:solidFill>
                <a:latin typeface="Montserrat"/>
                <a:ea typeface="Lato"/>
              </a:rPr>
              <a:t>DEMO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4" name="CustomShape 6"/>
          <p:cNvSpPr/>
          <p:nvPr/>
        </p:nvSpPr>
        <p:spPr>
          <a:xfrm>
            <a:off x="17920440" y="9713160"/>
            <a:ext cx="233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311"/>
              </a:lnSpc>
            </a:pPr>
            <a:r>
              <a:rPr b="0" lang="en-US" sz="2400" spc="233" strike="noStrike">
                <a:solidFill>
                  <a:srgbClr val="231f20"/>
                </a:solidFill>
                <a:latin typeface="Lato"/>
                <a:ea typeface="Lato"/>
              </a:rPr>
              <a:t>2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5" name="CustomShape 7"/>
          <p:cNvSpPr/>
          <p:nvPr/>
        </p:nvSpPr>
        <p:spPr>
          <a:xfrm>
            <a:off x="753120" y="2054160"/>
            <a:ext cx="694440" cy="42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3359"/>
              </a:lnSpc>
            </a:pPr>
            <a:r>
              <a:rPr b="1" i="1" lang="en-US" sz="2800" spc="-1" strike="noStrike">
                <a:solidFill>
                  <a:srgbClr val="ffffff"/>
                </a:solidFill>
                <a:latin typeface="Lato Bold Italics"/>
                <a:ea typeface="Lato Bold Italics"/>
              </a:rPr>
              <a:t>01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6" name="CustomShape 8"/>
          <p:cNvSpPr/>
          <p:nvPr/>
        </p:nvSpPr>
        <p:spPr>
          <a:xfrm>
            <a:off x="753120" y="2874960"/>
            <a:ext cx="694440" cy="42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3359"/>
              </a:lnSpc>
            </a:pPr>
            <a:r>
              <a:rPr b="1" i="1" lang="en-US" sz="2800" spc="-1" strike="noStrike">
                <a:solidFill>
                  <a:srgbClr val="ffffff"/>
                </a:solidFill>
                <a:latin typeface="Lato Bold Italics"/>
                <a:ea typeface="Lato Bold Italics"/>
              </a:rPr>
              <a:t>02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7" name="CustomShape 9"/>
          <p:cNvSpPr/>
          <p:nvPr/>
        </p:nvSpPr>
        <p:spPr>
          <a:xfrm>
            <a:off x="734400" y="3710520"/>
            <a:ext cx="694440" cy="42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3359"/>
              </a:lnSpc>
            </a:pPr>
            <a:r>
              <a:rPr b="1" i="1" lang="en-US" sz="2800" spc="-1" strike="noStrike">
                <a:solidFill>
                  <a:srgbClr val="ffffff"/>
                </a:solidFill>
                <a:latin typeface="Lato Bold Italics"/>
                <a:ea typeface="Lato Bold Italics"/>
              </a:rPr>
              <a:t>03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8" name="CustomShape 10"/>
          <p:cNvSpPr/>
          <p:nvPr/>
        </p:nvSpPr>
        <p:spPr>
          <a:xfrm>
            <a:off x="750600" y="4530960"/>
            <a:ext cx="694440" cy="42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3359"/>
              </a:lnSpc>
            </a:pPr>
            <a:r>
              <a:rPr b="1" i="1" lang="en-US" sz="2800" spc="-1" strike="noStrike">
                <a:solidFill>
                  <a:srgbClr val="ffffff"/>
                </a:solidFill>
                <a:latin typeface="Lato Bold Italics"/>
                <a:ea typeface="Lato Bold Italics"/>
              </a:rPr>
              <a:t>04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9" name="CustomShape 11"/>
          <p:cNvSpPr/>
          <p:nvPr/>
        </p:nvSpPr>
        <p:spPr>
          <a:xfrm>
            <a:off x="750600" y="5360760"/>
            <a:ext cx="694440" cy="426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 algn="ctr">
              <a:lnSpc>
                <a:spcPts val="3359"/>
              </a:lnSpc>
            </a:pPr>
            <a:r>
              <a:rPr b="1" i="1" lang="en-US" sz="2800" spc="-1" strike="noStrike">
                <a:solidFill>
                  <a:srgbClr val="ffffff"/>
                </a:solidFill>
                <a:latin typeface="Lato Bold Italics"/>
                <a:ea typeface="Lato Bold Italics"/>
              </a:rPr>
              <a:t>05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0" name="CustomShape 12"/>
          <p:cNvSpPr/>
          <p:nvPr/>
        </p:nvSpPr>
        <p:spPr>
          <a:xfrm>
            <a:off x="1859400" y="4479120"/>
            <a:ext cx="15140880" cy="49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864"/>
              </a:lnSpc>
            </a:pPr>
            <a:r>
              <a:rPr b="1" lang="en-US" sz="2800" spc="273" strike="noStrike">
                <a:solidFill>
                  <a:srgbClr val="231f20"/>
                </a:solidFill>
                <a:latin typeface="Montserrat"/>
                <a:ea typeface="Lato"/>
              </a:rPr>
              <a:t>EXPERIMENT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01" name="CustomShape 13"/>
          <p:cNvSpPr/>
          <p:nvPr/>
        </p:nvSpPr>
        <p:spPr>
          <a:xfrm>
            <a:off x="1859400" y="1999800"/>
            <a:ext cx="15097320" cy="49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864"/>
              </a:lnSpc>
            </a:pPr>
            <a:r>
              <a:rPr b="1" lang="en-US" sz="2800" spc="273" strike="noStrike">
                <a:solidFill>
                  <a:srgbClr val="231f20"/>
                </a:solidFill>
                <a:latin typeface="Montserrat"/>
                <a:ea typeface="Lato"/>
              </a:rPr>
              <a:t>DEFINITION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102" name="Imagem 24" descr=""/>
          <p:cNvPicPr/>
          <p:nvPr/>
        </p:nvPicPr>
        <p:blipFill>
          <a:blip r:embed="rId1"/>
          <a:stretch/>
        </p:blipFill>
        <p:spPr>
          <a:xfrm>
            <a:off x="16901280" y="128160"/>
            <a:ext cx="1230120" cy="520920"/>
          </a:xfrm>
          <a:prstGeom prst="rect">
            <a:avLst/>
          </a:prstGeom>
          <a:ln>
            <a:noFill/>
          </a:ln>
        </p:spPr>
      </p:pic>
      <p:sp>
        <p:nvSpPr>
          <p:cNvPr id="103" name="CustomShape 14"/>
          <p:cNvSpPr/>
          <p:nvPr/>
        </p:nvSpPr>
        <p:spPr>
          <a:xfrm>
            <a:off x="579960" y="651960"/>
            <a:ext cx="258120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CONTENT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04" name="CustomShape 15"/>
          <p:cNvSpPr/>
          <p:nvPr/>
        </p:nvSpPr>
        <p:spPr>
          <a:xfrm>
            <a:off x="1877400" y="5268960"/>
            <a:ext cx="15140880" cy="49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864"/>
              </a:lnSpc>
            </a:pPr>
            <a:r>
              <a:rPr b="1" lang="en-US" sz="2800" spc="273" strike="noStrike">
                <a:solidFill>
                  <a:srgbClr val="231f20"/>
                </a:solidFill>
                <a:latin typeface="Montserrat"/>
                <a:ea typeface="Lato"/>
              </a:rPr>
              <a:t>RESULTS</a:t>
            </a:r>
            <a:endParaRPr b="0" lang="en-US" sz="2800" spc="-1" strike="noStrike">
              <a:latin typeface="Arial"/>
            </a:endParaRPr>
          </a:p>
        </p:txBody>
      </p:sp>
    </p:spTree>
  </p:cSld>
  <p:transition spd="slow">
    <p:push dir="u"/>
  </p:transition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m 24" descr=""/>
          <p:cNvPicPr/>
          <p:nvPr/>
        </p:nvPicPr>
        <p:blipFill>
          <a:blip r:embed="rId1"/>
          <a:stretch/>
        </p:blipFill>
        <p:spPr>
          <a:xfrm>
            <a:off x="16901280" y="128160"/>
            <a:ext cx="1230120" cy="520920"/>
          </a:xfrm>
          <a:prstGeom prst="rect">
            <a:avLst/>
          </a:prstGeom>
          <a:ln>
            <a:noFill/>
          </a:ln>
        </p:spPr>
      </p:pic>
      <p:sp>
        <p:nvSpPr>
          <p:cNvPr id="106" name="CustomShape 1"/>
          <p:cNvSpPr/>
          <p:nvPr/>
        </p:nvSpPr>
        <p:spPr>
          <a:xfrm>
            <a:off x="588960" y="651960"/>
            <a:ext cx="314496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DEFINITION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07" name="CustomShape 2"/>
          <p:cNvSpPr/>
          <p:nvPr/>
        </p:nvSpPr>
        <p:spPr>
          <a:xfrm>
            <a:off x="565920" y="1828080"/>
            <a:ext cx="16807680" cy="1463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A saliency map is a visualization technique that highlights the pixels in an image that are most influential for a neural network’s classification decision for a specific class. </a:t>
            </a: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Saliency maps answer the question: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Which pixels does the network focus on when making its suggestion?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8" name="CustomShape 3"/>
          <p:cNvSpPr/>
          <p:nvPr/>
        </p:nvSpPr>
        <p:spPr>
          <a:xfrm>
            <a:off x="565920" y="3349800"/>
            <a:ext cx="11377800" cy="732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09" name="CustomShape 4"/>
          <p:cNvSpPr/>
          <p:nvPr/>
        </p:nvSpPr>
        <p:spPr>
          <a:xfrm>
            <a:off x="17920440" y="9713160"/>
            <a:ext cx="233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311"/>
              </a:lnSpc>
            </a:pPr>
            <a:r>
              <a:rPr b="0" lang="en-US" sz="2400" spc="233" strike="noStrike">
                <a:solidFill>
                  <a:srgbClr val="231f20"/>
                </a:solidFill>
                <a:latin typeface="Lato"/>
                <a:ea typeface="Lato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0" name="CustomShape 5"/>
          <p:cNvSpPr/>
          <p:nvPr/>
        </p:nvSpPr>
        <p:spPr>
          <a:xfrm>
            <a:off x="19520640" y="9721800"/>
            <a:ext cx="233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311"/>
              </a:lnSpc>
            </a:pPr>
            <a:r>
              <a:rPr b="0" lang="en-US" sz="2400" spc="233" strike="noStrike">
                <a:solidFill>
                  <a:srgbClr val="231f20"/>
                </a:solidFill>
                <a:latin typeface="Lato"/>
                <a:ea typeface="Lato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1" name="CustomShape 6"/>
          <p:cNvSpPr/>
          <p:nvPr/>
        </p:nvSpPr>
        <p:spPr>
          <a:xfrm>
            <a:off x="19520640" y="9721800"/>
            <a:ext cx="233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311"/>
              </a:lnSpc>
            </a:pPr>
            <a:r>
              <a:rPr b="0" lang="en-US" sz="2400" spc="233" strike="noStrike">
                <a:solidFill>
                  <a:srgbClr val="231f20"/>
                </a:solidFill>
                <a:latin typeface="Lato"/>
                <a:ea typeface="Lato"/>
              </a:rPr>
              <a:t>3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2" name="Picture 16" descr=""/>
          <p:cNvPicPr/>
          <p:nvPr/>
        </p:nvPicPr>
        <p:blipFill>
          <a:blip r:embed="rId2"/>
          <a:stretch/>
        </p:blipFill>
        <p:spPr>
          <a:xfrm>
            <a:off x="9859680" y="8027640"/>
            <a:ext cx="4168800" cy="2345040"/>
          </a:xfrm>
          <a:prstGeom prst="rect">
            <a:avLst/>
          </a:prstGeom>
          <a:ln>
            <a:noFill/>
          </a:ln>
        </p:spPr>
      </p:pic>
      <p:pic>
        <p:nvPicPr>
          <p:cNvPr id="113" name="Picture 4" descr=""/>
          <p:cNvPicPr/>
          <p:nvPr/>
        </p:nvPicPr>
        <p:blipFill>
          <a:blip r:embed="rId3"/>
          <a:stretch/>
        </p:blipFill>
        <p:spPr>
          <a:xfrm>
            <a:off x="6716160" y="5457960"/>
            <a:ext cx="3402360" cy="2751120"/>
          </a:xfrm>
          <a:prstGeom prst="rect">
            <a:avLst/>
          </a:prstGeom>
          <a:ln>
            <a:noFill/>
          </a:ln>
        </p:spPr>
      </p:pic>
      <p:pic>
        <p:nvPicPr>
          <p:cNvPr id="114" name="Picture 8" descr=""/>
          <p:cNvPicPr/>
          <p:nvPr/>
        </p:nvPicPr>
        <p:blipFill>
          <a:blip r:embed="rId4"/>
          <a:stretch/>
        </p:blipFill>
        <p:spPr>
          <a:xfrm>
            <a:off x="12877920" y="6877440"/>
            <a:ext cx="2830320" cy="2251440"/>
          </a:xfrm>
          <a:prstGeom prst="rect">
            <a:avLst/>
          </a:prstGeom>
          <a:ln>
            <a:noFill/>
          </a:ln>
        </p:spPr>
      </p:pic>
      <p:sp>
        <p:nvSpPr>
          <p:cNvPr id="115" name="CustomShape 7"/>
          <p:cNvSpPr/>
          <p:nvPr/>
        </p:nvSpPr>
        <p:spPr>
          <a:xfrm>
            <a:off x="13205880" y="7097040"/>
            <a:ext cx="2186280" cy="1098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That’s everything! Except a cat.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6" name="CustomShape 8"/>
          <p:cNvSpPr/>
          <p:nvPr/>
        </p:nvSpPr>
        <p:spPr>
          <a:xfrm>
            <a:off x="6716160" y="5448960"/>
            <a:ext cx="3413160" cy="2751120"/>
          </a:xfrm>
          <a:prstGeom prst="rect">
            <a:avLst/>
          </a:prstGeom>
          <a:noFill/>
          <a:ln w="2844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17" name="Imagem 9" descr=""/>
          <p:cNvPicPr/>
          <p:nvPr/>
        </p:nvPicPr>
        <p:blipFill>
          <a:blip r:embed="rId5"/>
          <a:stretch/>
        </p:blipFill>
        <p:spPr>
          <a:xfrm>
            <a:off x="2235960" y="7621200"/>
            <a:ext cx="2116080" cy="2751120"/>
          </a:xfrm>
          <a:prstGeom prst="rect">
            <a:avLst/>
          </a:prstGeom>
          <a:ln>
            <a:noFill/>
          </a:ln>
        </p:spPr>
      </p:pic>
      <p:pic>
        <p:nvPicPr>
          <p:cNvPr id="118" name="Picture 8" descr=""/>
          <p:cNvPicPr/>
          <p:nvPr/>
        </p:nvPicPr>
        <p:blipFill>
          <a:blip r:embed="rId6"/>
          <a:stretch/>
        </p:blipFill>
        <p:spPr>
          <a:xfrm>
            <a:off x="3969000" y="6798240"/>
            <a:ext cx="1627560" cy="1294560"/>
          </a:xfrm>
          <a:prstGeom prst="rect">
            <a:avLst/>
          </a:prstGeom>
          <a:ln>
            <a:noFill/>
          </a:ln>
        </p:spPr>
      </p:pic>
      <p:sp>
        <p:nvSpPr>
          <p:cNvPr id="119" name="CustomShape 9"/>
          <p:cNvSpPr/>
          <p:nvPr/>
        </p:nvSpPr>
        <p:spPr>
          <a:xfrm>
            <a:off x="4429440" y="7068960"/>
            <a:ext cx="77472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Cat.</a:t>
            </a:r>
            <a:endParaRPr b="0" lang="en-US" sz="2400" spc="-1" strike="noStrike">
              <a:latin typeface="Arial"/>
            </a:endParaRPr>
          </a:p>
        </p:txBody>
      </p:sp>
    </p:spTree>
  </p:cSld>
  <p:transition spd="slow">
    <p:push dir="u"/>
  </p:transition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609120" y="651960"/>
            <a:ext cx="707256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TYPES OF SALIENCY MAPS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21" name="Imagem 5" descr=""/>
          <p:cNvPicPr/>
          <p:nvPr/>
        </p:nvPicPr>
        <p:blipFill>
          <a:blip r:embed="rId1"/>
          <a:stretch/>
        </p:blipFill>
        <p:spPr>
          <a:xfrm>
            <a:off x="16901280" y="128160"/>
            <a:ext cx="1230120" cy="520920"/>
          </a:xfrm>
          <a:prstGeom prst="rect">
            <a:avLst/>
          </a:prstGeom>
          <a:ln>
            <a:noFill/>
          </a:ln>
        </p:spPr>
      </p:pic>
      <p:sp>
        <p:nvSpPr>
          <p:cNvPr id="122" name="CustomShape 2"/>
          <p:cNvSpPr/>
          <p:nvPr/>
        </p:nvSpPr>
        <p:spPr>
          <a:xfrm>
            <a:off x="17920440" y="9713160"/>
            <a:ext cx="233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311"/>
              </a:lnSpc>
            </a:pPr>
            <a:r>
              <a:rPr b="0" lang="en-US" sz="2400" spc="233" strike="noStrike">
                <a:solidFill>
                  <a:srgbClr val="231f20"/>
                </a:solidFill>
                <a:latin typeface="Lato"/>
                <a:ea typeface="Lato"/>
              </a:rPr>
              <a:t>4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3" name="Imagem 2108" descr=""/>
          <p:cNvPicPr/>
          <p:nvPr/>
        </p:nvPicPr>
        <p:blipFill>
          <a:blip r:embed="rId2"/>
          <a:stretch/>
        </p:blipFill>
        <p:spPr>
          <a:xfrm>
            <a:off x="2772360" y="5270760"/>
            <a:ext cx="13528440" cy="4731840"/>
          </a:xfrm>
          <a:prstGeom prst="rect">
            <a:avLst/>
          </a:prstGeom>
          <a:ln>
            <a:noFill/>
          </a:ln>
        </p:spPr>
      </p:pic>
      <p:grpSp>
        <p:nvGrpSpPr>
          <p:cNvPr id="124" name="Group 3"/>
          <p:cNvGrpSpPr/>
          <p:nvPr/>
        </p:nvGrpSpPr>
        <p:grpSpPr>
          <a:xfrm>
            <a:off x="7467480" y="2247840"/>
            <a:ext cx="3352320" cy="2827800"/>
            <a:chOff x="7467480" y="2247840"/>
            <a:chExt cx="3352320" cy="2827800"/>
          </a:xfrm>
        </p:grpSpPr>
        <p:sp>
          <p:nvSpPr>
            <p:cNvPr id="125" name="CustomShape 4"/>
            <p:cNvSpPr/>
            <p:nvPr/>
          </p:nvSpPr>
          <p:spPr>
            <a:xfrm>
              <a:off x="7467480" y="2247840"/>
              <a:ext cx="3352320" cy="2827800"/>
            </a:xfrm>
            <a:prstGeom prst="roundRect">
              <a:avLst>
                <a:gd name="adj" fmla="val 16667"/>
              </a:avLst>
            </a:prstGeom>
            <a:noFill/>
            <a:ln w="5724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6" name="CustomShape 5"/>
            <p:cNvSpPr/>
            <p:nvPr/>
          </p:nvSpPr>
          <p:spPr>
            <a:xfrm>
              <a:off x="7924680" y="277488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7" name="Line 6"/>
            <p:cNvSpPr/>
            <p:nvPr/>
          </p:nvSpPr>
          <p:spPr>
            <a:xfrm flipV="1">
              <a:off x="8469720" y="2774880"/>
              <a:ext cx="521640" cy="2667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8" name="CustomShape 7"/>
            <p:cNvSpPr/>
            <p:nvPr/>
          </p:nvSpPr>
          <p:spPr>
            <a:xfrm>
              <a:off x="8991720" y="250848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29" name="CustomShape 8"/>
            <p:cNvSpPr/>
            <p:nvPr/>
          </p:nvSpPr>
          <p:spPr>
            <a:xfrm>
              <a:off x="9997560" y="333576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0" name="CustomShape 9"/>
            <p:cNvSpPr/>
            <p:nvPr/>
          </p:nvSpPr>
          <p:spPr>
            <a:xfrm>
              <a:off x="8991720" y="421884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1" name="CustomShape 10"/>
            <p:cNvSpPr/>
            <p:nvPr/>
          </p:nvSpPr>
          <p:spPr>
            <a:xfrm>
              <a:off x="7907400" y="379800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2" name="CustomShape 11"/>
            <p:cNvSpPr/>
            <p:nvPr/>
          </p:nvSpPr>
          <p:spPr>
            <a:xfrm>
              <a:off x="8991720" y="332676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3" name="Line 12"/>
            <p:cNvSpPr/>
            <p:nvPr/>
          </p:nvSpPr>
          <p:spPr>
            <a:xfrm flipV="1">
              <a:off x="8372520" y="2963520"/>
              <a:ext cx="698760" cy="91260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4" name="Line 13"/>
            <p:cNvSpPr/>
            <p:nvPr/>
          </p:nvSpPr>
          <p:spPr>
            <a:xfrm>
              <a:off x="8389800" y="3230280"/>
              <a:ext cx="681480" cy="174240"/>
            </a:xfrm>
            <a:prstGeom prst="line">
              <a:avLst/>
            </a:prstGeom>
            <a:ln w="3816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5" name="Line 14"/>
            <p:cNvSpPr/>
            <p:nvPr/>
          </p:nvSpPr>
          <p:spPr>
            <a:xfrm flipV="1">
              <a:off x="8452080" y="3781800"/>
              <a:ext cx="619200" cy="282960"/>
            </a:xfrm>
            <a:prstGeom prst="line">
              <a:avLst/>
            </a:prstGeom>
            <a:ln w="3816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6" name="Line 15"/>
            <p:cNvSpPr/>
            <p:nvPr/>
          </p:nvSpPr>
          <p:spPr>
            <a:xfrm>
              <a:off x="8372520" y="4253040"/>
              <a:ext cx="618840" cy="2325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7" name="Line 16"/>
            <p:cNvSpPr/>
            <p:nvPr/>
          </p:nvSpPr>
          <p:spPr>
            <a:xfrm flipH="1">
              <a:off x="9456840" y="3790800"/>
              <a:ext cx="620280" cy="5061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8" name="Line 17"/>
            <p:cNvSpPr/>
            <p:nvPr/>
          </p:nvSpPr>
          <p:spPr>
            <a:xfrm flipH="1" flipV="1">
              <a:off x="9536400" y="3593160"/>
              <a:ext cx="461160" cy="900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9" name="Line 18"/>
            <p:cNvSpPr/>
            <p:nvPr/>
          </p:nvSpPr>
          <p:spPr>
            <a:xfrm flipH="1" flipV="1">
              <a:off x="9536400" y="2774880"/>
              <a:ext cx="540720" cy="63864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0" name="Line 19"/>
            <p:cNvSpPr/>
            <p:nvPr/>
          </p:nvSpPr>
          <p:spPr>
            <a:xfrm>
              <a:off x="8197200" y="3308400"/>
              <a:ext cx="874080" cy="9885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41" name="CustomShape 20"/>
          <p:cNvSpPr/>
          <p:nvPr/>
        </p:nvSpPr>
        <p:spPr>
          <a:xfrm>
            <a:off x="5970240" y="3639240"/>
            <a:ext cx="1164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chemeClr val="dk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42" name="Group 21"/>
          <p:cNvGrpSpPr/>
          <p:nvPr/>
        </p:nvGrpSpPr>
        <p:grpSpPr>
          <a:xfrm>
            <a:off x="12713760" y="2747520"/>
            <a:ext cx="2590920" cy="1981080"/>
            <a:chOff x="12713760" y="2747520"/>
            <a:chExt cx="2590920" cy="1981080"/>
          </a:xfrm>
        </p:grpSpPr>
        <p:sp>
          <p:nvSpPr>
            <p:cNvPr id="143" name="CustomShape 22"/>
            <p:cNvSpPr/>
            <p:nvPr/>
          </p:nvSpPr>
          <p:spPr>
            <a:xfrm>
              <a:off x="12733200" y="3018240"/>
              <a:ext cx="1466640" cy="455040"/>
            </a:xfrm>
            <a:prstGeom prst="rect">
              <a:avLst/>
            </a:prstGeom>
            <a:solidFill>
              <a:srgbClr val="da3434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144" name="CustomShape 23"/>
            <p:cNvSpPr/>
            <p:nvPr/>
          </p:nvSpPr>
          <p:spPr>
            <a:xfrm>
              <a:off x="12762000" y="3590640"/>
              <a:ext cx="408600" cy="4550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5" name="CustomShape 24"/>
            <p:cNvSpPr/>
            <p:nvPr/>
          </p:nvSpPr>
          <p:spPr>
            <a:xfrm>
              <a:off x="12762000" y="4158360"/>
              <a:ext cx="2542320" cy="455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146" name="Group 25"/>
            <p:cNvGrpSpPr/>
            <p:nvPr/>
          </p:nvGrpSpPr>
          <p:grpSpPr>
            <a:xfrm>
              <a:off x="12713760" y="2747520"/>
              <a:ext cx="2590920" cy="1981080"/>
              <a:chOff x="12713760" y="2747520"/>
              <a:chExt cx="2590920" cy="1981080"/>
            </a:xfrm>
          </p:grpSpPr>
          <p:sp>
            <p:nvSpPr>
              <p:cNvPr id="147" name="Line 26"/>
              <p:cNvSpPr/>
              <p:nvPr/>
            </p:nvSpPr>
            <p:spPr>
              <a:xfrm flipV="1">
                <a:off x="12732840" y="2747520"/>
                <a:ext cx="360" cy="1981080"/>
              </a:xfrm>
              <a:prstGeom prst="line">
                <a:avLst/>
              </a:prstGeom>
              <a:ln w="57240">
                <a:solidFill>
                  <a:srgbClr val="231f2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48" name="Line 27"/>
              <p:cNvSpPr/>
              <p:nvPr/>
            </p:nvSpPr>
            <p:spPr>
              <a:xfrm flipH="1">
                <a:off x="12713760" y="2747520"/>
                <a:ext cx="2590920" cy="360"/>
              </a:xfrm>
              <a:prstGeom prst="line">
                <a:avLst/>
              </a:prstGeom>
              <a:ln w="57240">
                <a:solidFill>
                  <a:srgbClr val="231f2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49" name="CustomShape 28"/>
          <p:cNvSpPr/>
          <p:nvPr/>
        </p:nvSpPr>
        <p:spPr>
          <a:xfrm>
            <a:off x="15670800" y="3285360"/>
            <a:ext cx="146664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231f20"/>
                </a:solidFill>
                <a:latin typeface="Montserrat"/>
                <a:ea typeface="Noto Sans"/>
              </a:rPr>
              <a:t>Corn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50" name="CustomShape 29"/>
          <p:cNvSpPr/>
          <p:nvPr/>
        </p:nvSpPr>
        <p:spPr>
          <a:xfrm>
            <a:off x="11128320" y="3626640"/>
            <a:ext cx="1164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chemeClr val="dk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51" name="Imagem 2138" descr=""/>
          <p:cNvPicPr/>
          <p:nvPr/>
        </p:nvPicPr>
        <p:blipFill>
          <a:blip r:embed="rId3"/>
          <a:stretch/>
        </p:blipFill>
        <p:spPr>
          <a:xfrm>
            <a:off x="2456280" y="2084040"/>
            <a:ext cx="3169440" cy="3155760"/>
          </a:xfrm>
          <a:prstGeom prst="rect">
            <a:avLst/>
          </a:prstGeom>
          <a:ln>
            <a:noFill/>
          </a:ln>
        </p:spPr>
      </p:pic>
    </p:spTree>
  </p:cSld>
  <p:transition spd="slow">
    <p:push dir="u"/>
  </p:transition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Imagem 24" descr=""/>
          <p:cNvPicPr/>
          <p:nvPr/>
        </p:nvPicPr>
        <p:blipFill>
          <a:blip r:embed="rId1"/>
          <a:stretch/>
        </p:blipFill>
        <p:spPr>
          <a:xfrm>
            <a:off x="16901280" y="128160"/>
            <a:ext cx="1230120" cy="520920"/>
          </a:xfrm>
          <a:prstGeom prst="rect">
            <a:avLst/>
          </a:prstGeom>
          <a:ln>
            <a:noFill/>
          </a:ln>
        </p:spPr>
      </p:pic>
      <p:sp>
        <p:nvSpPr>
          <p:cNvPr id="153" name="CustomShape 1"/>
          <p:cNvSpPr/>
          <p:nvPr/>
        </p:nvSpPr>
        <p:spPr>
          <a:xfrm>
            <a:off x="17920440" y="9713160"/>
            <a:ext cx="233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311"/>
              </a:lnSpc>
            </a:pPr>
            <a:r>
              <a:rPr b="0" lang="en-US" sz="2400" spc="233" strike="noStrike">
                <a:solidFill>
                  <a:srgbClr val="231f20"/>
                </a:solidFill>
                <a:latin typeface="Lato"/>
                <a:ea typeface="Lato"/>
              </a:rPr>
              <a:t>5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4" name="CustomShape 2"/>
          <p:cNvSpPr/>
          <p:nvPr/>
        </p:nvSpPr>
        <p:spPr>
          <a:xfrm>
            <a:off x="609120" y="651960"/>
            <a:ext cx="707256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TYPES OF SALIENCY MAPS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12115800" y="881280"/>
            <a:ext cx="4596840" cy="49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4"/>
          <p:cNvSpPr/>
          <p:nvPr/>
        </p:nvSpPr>
        <p:spPr>
          <a:xfrm>
            <a:off x="7315200" y="6318000"/>
            <a:ext cx="3581640" cy="35935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57" name="Group 5"/>
          <p:cNvGrpSpPr/>
          <p:nvPr/>
        </p:nvGrpSpPr>
        <p:grpSpPr>
          <a:xfrm>
            <a:off x="7467480" y="2247840"/>
            <a:ext cx="3352320" cy="2827800"/>
            <a:chOff x="7467480" y="2247840"/>
            <a:chExt cx="3352320" cy="2827800"/>
          </a:xfrm>
        </p:grpSpPr>
        <p:sp>
          <p:nvSpPr>
            <p:cNvPr id="158" name="CustomShape 6"/>
            <p:cNvSpPr/>
            <p:nvPr/>
          </p:nvSpPr>
          <p:spPr>
            <a:xfrm>
              <a:off x="7467480" y="2247840"/>
              <a:ext cx="3352320" cy="2827800"/>
            </a:xfrm>
            <a:prstGeom prst="roundRect">
              <a:avLst>
                <a:gd name="adj" fmla="val 16667"/>
              </a:avLst>
            </a:prstGeom>
            <a:noFill/>
            <a:ln w="5724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9" name="CustomShape 7"/>
            <p:cNvSpPr/>
            <p:nvPr/>
          </p:nvSpPr>
          <p:spPr>
            <a:xfrm>
              <a:off x="7924680" y="277488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0" name="Line 8"/>
            <p:cNvSpPr/>
            <p:nvPr/>
          </p:nvSpPr>
          <p:spPr>
            <a:xfrm flipV="1">
              <a:off x="8469720" y="2774880"/>
              <a:ext cx="521640" cy="2667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1" name="CustomShape 9"/>
            <p:cNvSpPr/>
            <p:nvPr/>
          </p:nvSpPr>
          <p:spPr>
            <a:xfrm>
              <a:off x="8991720" y="250848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2" name="CustomShape 10"/>
            <p:cNvSpPr/>
            <p:nvPr/>
          </p:nvSpPr>
          <p:spPr>
            <a:xfrm>
              <a:off x="9997560" y="333576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3" name="CustomShape 11"/>
            <p:cNvSpPr/>
            <p:nvPr/>
          </p:nvSpPr>
          <p:spPr>
            <a:xfrm>
              <a:off x="8991720" y="421884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4" name="CustomShape 12"/>
            <p:cNvSpPr/>
            <p:nvPr/>
          </p:nvSpPr>
          <p:spPr>
            <a:xfrm>
              <a:off x="7907400" y="379800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5" name="CustomShape 13"/>
            <p:cNvSpPr/>
            <p:nvPr/>
          </p:nvSpPr>
          <p:spPr>
            <a:xfrm>
              <a:off x="8991720" y="332676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6" name="Line 14"/>
            <p:cNvSpPr/>
            <p:nvPr/>
          </p:nvSpPr>
          <p:spPr>
            <a:xfrm flipV="1">
              <a:off x="8372520" y="2963520"/>
              <a:ext cx="698760" cy="91260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7" name="Line 15"/>
            <p:cNvSpPr/>
            <p:nvPr/>
          </p:nvSpPr>
          <p:spPr>
            <a:xfrm>
              <a:off x="8389800" y="3230280"/>
              <a:ext cx="681480" cy="174240"/>
            </a:xfrm>
            <a:prstGeom prst="line">
              <a:avLst/>
            </a:prstGeom>
            <a:ln w="3816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8" name="Line 16"/>
            <p:cNvSpPr/>
            <p:nvPr/>
          </p:nvSpPr>
          <p:spPr>
            <a:xfrm flipV="1">
              <a:off x="8452080" y="3781800"/>
              <a:ext cx="619200" cy="282960"/>
            </a:xfrm>
            <a:prstGeom prst="line">
              <a:avLst/>
            </a:prstGeom>
            <a:ln w="3816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69" name="Line 17"/>
            <p:cNvSpPr/>
            <p:nvPr/>
          </p:nvSpPr>
          <p:spPr>
            <a:xfrm>
              <a:off x="8372520" y="4253040"/>
              <a:ext cx="618840" cy="2325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0" name="Line 18"/>
            <p:cNvSpPr/>
            <p:nvPr/>
          </p:nvSpPr>
          <p:spPr>
            <a:xfrm flipH="1">
              <a:off x="9456840" y="3790800"/>
              <a:ext cx="620280" cy="5061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1" name="Line 19"/>
            <p:cNvSpPr/>
            <p:nvPr/>
          </p:nvSpPr>
          <p:spPr>
            <a:xfrm flipH="1" flipV="1">
              <a:off x="9536400" y="3593160"/>
              <a:ext cx="461160" cy="900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2" name="Line 20"/>
            <p:cNvSpPr/>
            <p:nvPr/>
          </p:nvSpPr>
          <p:spPr>
            <a:xfrm flipH="1" flipV="1">
              <a:off x="9536400" y="2774880"/>
              <a:ext cx="540720" cy="63864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73" name="Line 21"/>
            <p:cNvSpPr/>
            <p:nvPr/>
          </p:nvSpPr>
          <p:spPr>
            <a:xfrm>
              <a:off x="8197200" y="3308400"/>
              <a:ext cx="874080" cy="9885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74" name="CustomShape 22"/>
          <p:cNvSpPr/>
          <p:nvPr/>
        </p:nvSpPr>
        <p:spPr>
          <a:xfrm>
            <a:off x="7353000" y="5527440"/>
            <a:ext cx="358164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231f20"/>
                </a:solidFill>
                <a:latin typeface="Montserrat"/>
                <a:ea typeface="Noto Sans"/>
              </a:rPr>
              <a:t>Gradient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75" name="Imagem 41" descr=""/>
          <p:cNvPicPr/>
          <p:nvPr/>
        </p:nvPicPr>
        <p:blipFill>
          <a:blip r:embed="rId2"/>
          <a:stretch/>
        </p:blipFill>
        <p:spPr>
          <a:xfrm>
            <a:off x="1715760" y="7614000"/>
            <a:ext cx="3909600" cy="773640"/>
          </a:xfrm>
          <a:prstGeom prst="rect">
            <a:avLst/>
          </a:prstGeom>
          <a:ln>
            <a:noFill/>
          </a:ln>
        </p:spPr>
      </p:pic>
      <p:sp>
        <p:nvSpPr>
          <p:cNvPr id="176" name="CustomShape 23"/>
          <p:cNvSpPr/>
          <p:nvPr/>
        </p:nvSpPr>
        <p:spPr>
          <a:xfrm>
            <a:off x="1020240" y="7353360"/>
            <a:ext cx="5098320" cy="1294920"/>
          </a:xfrm>
          <a:prstGeom prst="rect">
            <a:avLst/>
          </a:prstGeom>
          <a:noFill/>
          <a:ln>
            <a:solidFill>
              <a:srgbClr val="0f1507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CustomShape 24"/>
          <p:cNvSpPr/>
          <p:nvPr/>
        </p:nvSpPr>
        <p:spPr>
          <a:xfrm>
            <a:off x="11710800" y="7228080"/>
            <a:ext cx="4596840" cy="146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231f20"/>
                </a:solidFill>
                <a:latin typeface="Montserrat"/>
                <a:ea typeface="Noto Sans"/>
              </a:rPr>
              <a:t>Perturbation direction of fastest ascent for the class logit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78" name="CustomShape 25"/>
          <p:cNvSpPr/>
          <p:nvPr/>
        </p:nvSpPr>
        <p:spPr>
          <a:xfrm>
            <a:off x="5970240" y="3639240"/>
            <a:ext cx="1164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chemeClr val="dk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9" name="Group 26"/>
          <p:cNvGrpSpPr/>
          <p:nvPr/>
        </p:nvGrpSpPr>
        <p:grpSpPr>
          <a:xfrm>
            <a:off x="12713760" y="2747520"/>
            <a:ext cx="2590920" cy="1981080"/>
            <a:chOff x="12713760" y="2747520"/>
            <a:chExt cx="2590920" cy="1981080"/>
          </a:xfrm>
        </p:grpSpPr>
        <p:sp>
          <p:nvSpPr>
            <p:cNvPr id="180" name="CustomShape 27"/>
            <p:cNvSpPr/>
            <p:nvPr/>
          </p:nvSpPr>
          <p:spPr>
            <a:xfrm>
              <a:off x="12733200" y="3018240"/>
              <a:ext cx="1466640" cy="455040"/>
            </a:xfrm>
            <a:prstGeom prst="rect">
              <a:avLst/>
            </a:prstGeom>
            <a:solidFill>
              <a:srgbClr val="da3434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181" name="CustomShape 28"/>
            <p:cNvSpPr/>
            <p:nvPr/>
          </p:nvSpPr>
          <p:spPr>
            <a:xfrm>
              <a:off x="12762000" y="3590640"/>
              <a:ext cx="408600" cy="4550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82" name="CustomShape 29"/>
            <p:cNvSpPr/>
            <p:nvPr/>
          </p:nvSpPr>
          <p:spPr>
            <a:xfrm>
              <a:off x="12762000" y="4158360"/>
              <a:ext cx="2542320" cy="455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183" name="Group 30"/>
            <p:cNvGrpSpPr/>
            <p:nvPr/>
          </p:nvGrpSpPr>
          <p:grpSpPr>
            <a:xfrm>
              <a:off x="12713760" y="2747520"/>
              <a:ext cx="2590920" cy="1981080"/>
              <a:chOff x="12713760" y="2747520"/>
              <a:chExt cx="2590920" cy="1981080"/>
            </a:xfrm>
          </p:grpSpPr>
          <p:sp>
            <p:nvSpPr>
              <p:cNvPr id="184" name="Line 31"/>
              <p:cNvSpPr/>
              <p:nvPr/>
            </p:nvSpPr>
            <p:spPr>
              <a:xfrm flipV="1">
                <a:off x="12732840" y="2747520"/>
                <a:ext cx="360" cy="1981080"/>
              </a:xfrm>
              <a:prstGeom prst="line">
                <a:avLst/>
              </a:prstGeom>
              <a:ln w="57240">
                <a:solidFill>
                  <a:srgbClr val="231f2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85" name="Line 32"/>
              <p:cNvSpPr/>
              <p:nvPr/>
            </p:nvSpPr>
            <p:spPr>
              <a:xfrm flipH="1">
                <a:off x="12713760" y="2747520"/>
                <a:ext cx="2590920" cy="360"/>
              </a:xfrm>
              <a:prstGeom prst="line">
                <a:avLst/>
              </a:prstGeom>
              <a:ln w="57240">
                <a:solidFill>
                  <a:srgbClr val="231f2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186" name="CustomShape 33"/>
          <p:cNvSpPr/>
          <p:nvPr/>
        </p:nvSpPr>
        <p:spPr>
          <a:xfrm>
            <a:off x="15670800" y="3285360"/>
            <a:ext cx="123012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231f20"/>
                </a:solidFill>
                <a:latin typeface="Montserrat"/>
                <a:ea typeface="Noto Sans"/>
              </a:rPr>
              <a:t>Dog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187" name="CustomShape 34"/>
          <p:cNvSpPr/>
          <p:nvPr/>
        </p:nvSpPr>
        <p:spPr>
          <a:xfrm>
            <a:off x="11128320" y="3626640"/>
            <a:ext cx="1164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chemeClr val="dk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188" name="Imagem 12" descr=""/>
          <p:cNvPicPr/>
          <p:nvPr/>
        </p:nvPicPr>
        <p:blipFill>
          <a:blip r:embed="rId3"/>
          <a:stretch/>
        </p:blipFill>
        <p:spPr>
          <a:xfrm>
            <a:off x="2516760" y="2247840"/>
            <a:ext cx="3001680" cy="3009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Imagem 1" descr=""/>
          <p:cNvPicPr/>
          <p:nvPr/>
        </p:nvPicPr>
        <p:blipFill>
          <a:blip r:embed="rId1"/>
          <a:stretch/>
        </p:blipFill>
        <p:spPr>
          <a:xfrm>
            <a:off x="7315200" y="6329880"/>
            <a:ext cx="3576960" cy="3597480"/>
          </a:xfrm>
          <a:prstGeom prst="rect">
            <a:avLst/>
          </a:prstGeom>
          <a:ln>
            <a:noFill/>
          </a:ln>
        </p:spPr>
      </p:pic>
      <p:sp>
        <p:nvSpPr>
          <p:cNvPr id="190" name="CustomShape 1"/>
          <p:cNvSpPr/>
          <p:nvPr/>
        </p:nvSpPr>
        <p:spPr>
          <a:xfrm>
            <a:off x="7315200" y="6318000"/>
            <a:ext cx="3581640" cy="35935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91" name="Imagem 4" descr=""/>
          <p:cNvPicPr/>
          <p:nvPr/>
        </p:nvPicPr>
        <p:blipFill>
          <a:blip r:embed="rId2"/>
          <a:stretch/>
        </p:blipFill>
        <p:spPr>
          <a:xfrm>
            <a:off x="16901280" y="128160"/>
            <a:ext cx="1230120" cy="520920"/>
          </a:xfrm>
          <a:prstGeom prst="rect">
            <a:avLst/>
          </a:prstGeom>
          <a:ln>
            <a:noFill/>
          </a:ln>
        </p:spPr>
      </p:pic>
      <p:sp>
        <p:nvSpPr>
          <p:cNvPr id="192" name="CustomShape 2"/>
          <p:cNvSpPr/>
          <p:nvPr/>
        </p:nvSpPr>
        <p:spPr>
          <a:xfrm>
            <a:off x="609120" y="651960"/>
            <a:ext cx="707256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TYPES OF SALIENCY MAPS</a:t>
            </a:r>
            <a:endParaRPr b="0" lang="en-US" sz="4000" spc="-1" strike="noStrike">
              <a:latin typeface="Arial"/>
            </a:endParaRPr>
          </a:p>
        </p:txBody>
      </p:sp>
      <p:grpSp>
        <p:nvGrpSpPr>
          <p:cNvPr id="193" name="Group 3"/>
          <p:cNvGrpSpPr/>
          <p:nvPr/>
        </p:nvGrpSpPr>
        <p:grpSpPr>
          <a:xfrm>
            <a:off x="7467480" y="2247840"/>
            <a:ext cx="3352320" cy="2827800"/>
            <a:chOff x="7467480" y="2247840"/>
            <a:chExt cx="3352320" cy="2827800"/>
          </a:xfrm>
        </p:grpSpPr>
        <p:sp>
          <p:nvSpPr>
            <p:cNvPr id="194" name="CustomShape 4"/>
            <p:cNvSpPr/>
            <p:nvPr/>
          </p:nvSpPr>
          <p:spPr>
            <a:xfrm>
              <a:off x="7467480" y="2247840"/>
              <a:ext cx="3352320" cy="2827800"/>
            </a:xfrm>
            <a:prstGeom prst="roundRect">
              <a:avLst>
                <a:gd name="adj" fmla="val 16667"/>
              </a:avLst>
            </a:prstGeom>
            <a:noFill/>
            <a:ln w="5724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5" name="CustomShape 5"/>
            <p:cNvSpPr/>
            <p:nvPr/>
          </p:nvSpPr>
          <p:spPr>
            <a:xfrm>
              <a:off x="7924680" y="277488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6" name="Line 6"/>
            <p:cNvSpPr/>
            <p:nvPr/>
          </p:nvSpPr>
          <p:spPr>
            <a:xfrm flipV="1">
              <a:off x="8469720" y="2774880"/>
              <a:ext cx="521640" cy="2667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7" name="CustomShape 7"/>
            <p:cNvSpPr/>
            <p:nvPr/>
          </p:nvSpPr>
          <p:spPr>
            <a:xfrm>
              <a:off x="8991720" y="250848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8" name="CustomShape 8"/>
            <p:cNvSpPr/>
            <p:nvPr/>
          </p:nvSpPr>
          <p:spPr>
            <a:xfrm>
              <a:off x="9997560" y="333576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99" name="CustomShape 9"/>
            <p:cNvSpPr/>
            <p:nvPr/>
          </p:nvSpPr>
          <p:spPr>
            <a:xfrm>
              <a:off x="8991720" y="421884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0" name="CustomShape 10"/>
            <p:cNvSpPr/>
            <p:nvPr/>
          </p:nvSpPr>
          <p:spPr>
            <a:xfrm>
              <a:off x="7907400" y="379800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1" name="CustomShape 11"/>
            <p:cNvSpPr/>
            <p:nvPr/>
          </p:nvSpPr>
          <p:spPr>
            <a:xfrm>
              <a:off x="8991720" y="332676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2" name="Line 12"/>
            <p:cNvSpPr/>
            <p:nvPr/>
          </p:nvSpPr>
          <p:spPr>
            <a:xfrm flipV="1">
              <a:off x="8372520" y="2963520"/>
              <a:ext cx="698760" cy="91260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3" name="Line 13"/>
            <p:cNvSpPr/>
            <p:nvPr/>
          </p:nvSpPr>
          <p:spPr>
            <a:xfrm>
              <a:off x="8389800" y="3230280"/>
              <a:ext cx="681480" cy="174240"/>
            </a:xfrm>
            <a:prstGeom prst="line">
              <a:avLst/>
            </a:prstGeom>
            <a:ln w="3816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4" name="Line 14"/>
            <p:cNvSpPr/>
            <p:nvPr/>
          </p:nvSpPr>
          <p:spPr>
            <a:xfrm flipV="1">
              <a:off x="8452080" y="3781800"/>
              <a:ext cx="619200" cy="282960"/>
            </a:xfrm>
            <a:prstGeom prst="line">
              <a:avLst/>
            </a:prstGeom>
            <a:ln w="3816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5" name="Line 15"/>
            <p:cNvSpPr/>
            <p:nvPr/>
          </p:nvSpPr>
          <p:spPr>
            <a:xfrm>
              <a:off x="8372520" y="4253040"/>
              <a:ext cx="618840" cy="2325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6" name="Line 16"/>
            <p:cNvSpPr/>
            <p:nvPr/>
          </p:nvSpPr>
          <p:spPr>
            <a:xfrm flipH="1">
              <a:off x="9456840" y="3790800"/>
              <a:ext cx="620280" cy="5061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7" name="Line 17"/>
            <p:cNvSpPr/>
            <p:nvPr/>
          </p:nvSpPr>
          <p:spPr>
            <a:xfrm flipH="1" flipV="1">
              <a:off x="9536400" y="3593160"/>
              <a:ext cx="461160" cy="900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8" name="Line 18"/>
            <p:cNvSpPr/>
            <p:nvPr/>
          </p:nvSpPr>
          <p:spPr>
            <a:xfrm flipH="1" flipV="1">
              <a:off x="9536400" y="2774880"/>
              <a:ext cx="540720" cy="63864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09" name="Line 19"/>
            <p:cNvSpPr/>
            <p:nvPr/>
          </p:nvSpPr>
          <p:spPr>
            <a:xfrm>
              <a:off x="8197200" y="3308400"/>
              <a:ext cx="874080" cy="9885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10" name="CustomShape 20"/>
          <p:cNvSpPr/>
          <p:nvPr/>
        </p:nvSpPr>
        <p:spPr>
          <a:xfrm>
            <a:off x="7353000" y="5527440"/>
            <a:ext cx="358164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231f20"/>
                </a:solidFill>
                <a:latin typeface="Montserrat"/>
                <a:ea typeface="Noto Sans"/>
              </a:rPr>
              <a:t>SmoothGrad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211" name="Imagem 56" descr=""/>
          <p:cNvPicPr/>
          <p:nvPr/>
        </p:nvPicPr>
        <p:blipFill>
          <a:blip r:embed="rId3"/>
          <a:stretch/>
        </p:blipFill>
        <p:spPr>
          <a:xfrm>
            <a:off x="1195200" y="7752960"/>
            <a:ext cx="4774680" cy="514440"/>
          </a:xfrm>
          <a:prstGeom prst="rect">
            <a:avLst/>
          </a:prstGeom>
          <a:ln>
            <a:noFill/>
          </a:ln>
        </p:spPr>
      </p:pic>
      <p:sp>
        <p:nvSpPr>
          <p:cNvPr id="212" name="CustomShape 21"/>
          <p:cNvSpPr/>
          <p:nvPr/>
        </p:nvSpPr>
        <p:spPr>
          <a:xfrm>
            <a:off x="1020240" y="7353360"/>
            <a:ext cx="5098320" cy="1294920"/>
          </a:xfrm>
          <a:prstGeom prst="rect">
            <a:avLst/>
          </a:prstGeom>
          <a:noFill/>
          <a:ln>
            <a:solidFill>
              <a:srgbClr val="0f1507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13" name="CustomShape 22"/>
          <p:cNvSpPr/>
          <p:nvPr/>
        </p:nvSpPr>
        <p:spPr>
          <a:xfrm>
            <a:off x="17920440" y="9713160"/>
            <a:ext cx="233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311"/>
              </a:lnSpc>
            </a:pPr>
            <a:r>
              <a:rPr b="0" lang="en-US" sz="2400" spc="233" strike="noStrike">
                <a:solidFill>
                  <a:srgbClr val="231f20"/>
                </a:solidFill>
                <a:latin typeface="Lato"/>
                <a:ea typeface="Lato"/>
              </a:rPr>
              <a:t>6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14" name="CustomShape 23"/>
          <p:cNvSpPr/>
          <p:nvPr/>
        </p:nvSpPr>
        <p:spPr>
          <a:xfrm>
            <a:off x="11710800" y="7471800"/>
            <a:ext cx="5556600" cy="97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231f20"/>
                </a:solidFill>
                <a:latin typeface="Montserrat"/>
                <a:ea typeface="Noto Sans"/>
              </a:rPr>
              <a:t>Average saliency using inputs with Gaussian noise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15" name="CustomShape 24"/>
          <p:cNvSpPr/>
          <p:nvPr/>
        </p:nvSpPr>
        <p:spPr>
          <a:xfrm>
            <a:off x="5970240" y="3639240"/>
            <a:ext cx="1164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chemeClr val="dk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16" name="Group 25"/>
          <p:cNvGrpSpPr/>
          <p:nvPr/>
        </p:nvGrpSpPr>
        <p:grpSpPr>
          <a:xfrm>
            <a:off x="12713760" y="2747520"/>
            <a:ext cx="2590920" cy="1981080"/>
            <a:chOff x="12713760" y="2747520"/>
            <a:chExt cx="2590920" cy="1981080"/>
          </a:xfrm>
        </p:grpSpPr>
        <p:sp>
          <p:nvSpPr>
            <p:cNvPr id="217" name="CustomShape 26"/>
            <p:cNvSpPr/>
            <p:nvPr/>
          </p:nvSpPr>
          <p:spPr>
            <a:xfrm>
              <a:off x="12733200" y="3018240"/>
              <a:ext cx="1466640" cy="455040"/>
            </a:xfrm>
            <a:prstGeom prst="rect">
              <a:avLst/>
            </a:prstGeom>
            <a:solidFill>
              <a:srgbClr val="da3434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218" name="CustomShape 27"/>
            <p:cNvSpPr/>
            <p:nvPr/>
          </p:nvSpPr>
          <p:spPr>
            <a:xfrm>
              <a:off x="12762000" y="3590640"/>
              <a:ext cx="408600" cy="4550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19" name="CustomShape 28"/>
            <p:cNvSpPr/>
            <p:nvPr/>
          </p:nvSpPr>
          <p:spPr>
            <a:xfrm>
              <a:off x="12762000" y="4158360"/>
              <a:ext cx="2542320" cy="455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220" name="Group 29"/>
            <p:cNvGrpSpPr/>
            <p:nvPr/>
          </p:nvGrpSpPr>
          <p:grpSpPr>
            <a:xfrm>
              <a:off x="12713760" y="2747520"/>
              <a:ext cx="2590920" cy="1981080"/>
              <a:chOff x="12713760" y="2747520"/>
              <a:chExt cx="2590920" cy="1981080"/>
            </a:xfrm>
          </p:grpSpPr>
          <p:sp>
            <p:nvSpPr>
              <p:cNvPr id="221" name="Line 30"/>
              <p:cNvSpPr/>
              <p:nvPr/>
            </p:nvSpPr>
            <p:spPr>
              <a:xfrm flipV="1">
                <a:off x="12732840" y="2747520"/>
                <a:ext cx="360" cy="1981080"/>
              </a:xfrm>
              <a:prstGeom prst="line">
                <a:avLst/>
              </a:prstGeom>
              <a:ln w="57240">
                <a:solidFill>
                  <a:srgbClr val="231f2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22" name="Line 31"/>
              <p:cNvSpPr/>
              <p:nvPr/>
            </p:nvSpPr>
            <p:spPr>
              <a:xfrm flipH="1">
                <a:off x="12713760" y="2747520"/>
                <a:ext cx="2590920" cy="360"/>
              </a:xfrm>
              <a:prstGeom prst="line">
                <a:avLst/>
              </a:prstGeom>
              <a:ln w="57240">
                <a:solidFill>
                  <a:srgbClr val="231f2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223" name="CustomShape 32"/>
          <p:cNvSpPr/>
          <p:nvPr/>
        </p:nvSpPr>
        <p:spPr>
          <a:xfrm>
            <a:off x="15670800" y="3285360"/>
            <a:ext cx="123012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231f20"/>
                </a:solidFill>
                <a:latin typeface="Montserrat"/>
                <a:ea typeface="Noto Sans"/>
              </a:rPr>
              <a:t>Dog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24" name="CustomShape 33"/>
          <p:cNvSpPr/>
          <p:nvPr/>
        </p:nvSpPr>
        <p:spPr>
          <a:xfrm>
            <a:off x="11128320" y="3626640"/>
            <a:ext cx="1164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chemeClr val="dk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225" name="Imagem 2" descr=""/>
          <p:cNvPicPr/>
          <p:nvPr/>
        </p:nvPicPr>
        <p:blipFill>
          <a:blip r:embed="rId4"/>
          <a:stretch/>
        </p:blipFill>
        <p:spPr>
          <a:xfrm>
            <a:off x="2516760" y="2247840"/>
            <a:ext cx="3001680" cy="3009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7315200" y="6318000"/>
            <a:ext cx="3581640" cy="35935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27" name="Group 2"/>
          <p:cNvGrpSpPr/>
          <p:nvPr/>
        </p:nvGrpSpPr>
        <p:grpSpPr>
          <a:xfrm>
            <a:off x="7467480" y="2247840"/>
            <a:ext cx="3352320" cy="2827800"/>
            <a:chOff x="7467480" y="2247840"/>
            <a:chExt cx="3352320" cy="2827800"/>
          </a:xfrm>
        </p:grpSpPr>
        <p:sp>
          <p:nvSpPr>
            <p:cNvPr id="228" name="CustomShape 3"/>
            <p:cNvSpPr/>
            <p:nvPr/>
          </p:nvSpPr>
          <p:spPr>
            <a:xfrm>
              <a:off x="7467480" y="2247840"/>
              <a:ext cx="3352320" cy="2827800"/>
            </a:xfrm>
            <a:prstGeom prst="roundRect">
              <a:avLst>
                <a:gd name="adj" fmla="val 16667"/>
              </a:avLst>
            </a:prstGeom>
            <a:noFill/>
            <a:ln w="5724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9" name="CustomShape 4"/>
            <p:cNvSpPr/>
            <p:nvPr/>
          </p:nvSpPr>
          <p:spPr>
            <a:xfrm>
              <a:off x="7924680" y="277488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0" name="Line 5"/>
            <p:cNvSpPr/>
            <p:nvPr/>
          </p:nvSpPr>
          <p:spPr>
            <a:xfrm flipV="1">
              <a:off x="8469720" y="2774880"/>
              <a:ext cx="521640" cy="2667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1" name="CustomShape 6"/>
            <p:cNvSpPr/>
            <p:nvPr/>
          </p:nvSpPr>
          <p:spPr>
            <a:xfrm>
              <a:off x="8991720" y="250848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2" name="CustomShape 7"/>
            <p:cNvSpPr/>
            <p:nvPr/>
          </p:nvSpPr>
          <p:spPr>
            <a:xfrm>
              <a:off x="9997560" y="333576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3" name="CustomShape 8"/>
            <p:cNvSpPr/>
            <p:nvPr/>
          </p:nvSpPr>
          <p:spPr>
            <a:xfrm>
              <a:off x="8991720" y="421884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4" name="CustomShape 9"/>
            <p:cNvSpPr/>
            <p:nvPr/>
          </p:nvSpPr>
          <p:spPr>
            <a:xfrm>
              <a:off x="7907400" y="379800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5" name="CustomShape 10"/>
            <p:cNvSpPr/>
            <p:nvPr/>
          </p:nvSpPr>
          <p:spPr>
            <a:xfrm>
              <a:off x="8991720" y="3326760"/>
              <a:ext cx="544680" cy="533160"/>
            </a:xfrm>
            <a:prstGeom prst="flowChartConnector">
              <a:avLst/>
            </a:prstGeom>
            <a:noFill/>
            <a:ln w="76320">
              <a:solidFill>
                <a:srgbClr val="0f1507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6" name="Line 11"/>
            <p:cNvSpPr/>
            <p:nvPr/>
          </p:nvSpPr>
          <p:spPr>
            <a:xfrm flipV="1">
              <a:off x="8372520" y="2963520"/>
              <a:ext cx="698760" cy="91260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7" name="Line 12"/>
            <p:cNvSpPr/>
            <p:nvPr/>
          </p:nvSpPr>
          <p:spPr>
            <a:xfrm>
              <a:off x="8389800" y="3230280"/>
              <a:ext cx="681480" cy="174240"/>
            </a:xfrm>
            <a:prstGeom prst="line">
              <a:avLst/>
            </a:prstGeom>
            <a:ln w="3816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8" name="Line 13"/>
            <p:cNvSpPr/>
            <p:nvPr/>
          </p:nvSpPr>
          <p:spPr>
            <a:xfrm flipV="1">
              <a:off x="8452080" y="3781800"/>
              <a:ext cx="619200" cy="282960"/>
            </a:xfrm>
            <a:prstGeom prst="line">
              <a:avLst/>
            </a:prstGeom>
            <a:ln w="3816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9" name="Line 14"/>
            <p:cNvSpPr/>
            <p:nvPr/>
          </p:nvSpPr>
          <p:spPr>
            <a:xfrm>
              <a:off x="8372520" y="4253040"/>
              <a:ext cx="618840" cy="2325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0" name="Line 15"/>
            <p:cNvSpPr/>
            <p:nvPr/>
          </p:nvSpPr>
          <p:spPr>
            <a:xfrm flipH="1">
              <a:off x="9456840" y="3790800"/>
              <a:ext cx="620280" cy="5061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1" name="Line 16"/>
            <p:cNvSpPr/>
            <p:nvPr/>
          </p:nvSpPr>
          <p:spPr>
            <a:xfrm flipH="1" flipV="1">
              <a:off x="9536400" y="3593160"/>
              <a:ext cx="461160" cy="900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2" name="Line 17"/>
            <p:cNvSpPr/>
            <p:nvPr/>
          </p:nvSpPr>
          <p:spPr>
            <a:xfrm flipH="1" flipV="1">
              <a:off x="9536400" y="2774880"/>
              <a:ext cx="540720" cy="63864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43" name="Line 18"/>
            <p:cNvSpPr/>
            <p:nvPr/>
          </p:nvSpPr>
          <p:spPr>
            <a:xfrm>
              <a:off x="8197200" y="3308400"/>
              <a:ext cx="874080" cy="988560"/>
            </a:xfrm>
            <a:prstGeom prst="line">
              <a:avLst/>
            </a:prstGeom>
            <a:ln w="57240">
              <a:solidFill>
                <a:srgbClr val="0f1507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44" name="CustomShape 19"/>
          <p:cNvSpPr/>
          <p:nvPr/>
        </p:nvSpPr>
        <p:spPr>
          <a:xfrm>
            <a:off x="6553080" y="5527440"/>
            <a:ext cx="493992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231f20"/>
                </a:solidFill>
                <a:latin typeface="Montserrat"/>
                <a:ea typeface="Noto Sans"/>
              </a:rPr>
              <a:t>Guided BackProp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245" name="Imagem 21" descr=""/>
          <p:cNvPicPr/>
          <p:nvPr/>
        </p:nvPicPr>
        <p:blipFill>
          <a:blip r:embed="rId1"/>
          <a:stretch/>
        </p:blipFill>
        <p:spPr>
          <a:xfrm>
            <a:off x="7315200" y="6320520"/>
            <a:ext cx="3581640" cy="3591000"/>
          </a:xfrm>
          <a:prstGeom prst="rect">
            <a:avLst/>
          </a:prstGeom>
          <a:ln>
            <a:noFill/>
          </a:ln>
        </p:spPr>
      </p:pic>
      <p:pic>
        <p:nvPicPr>
          <p:cNvPr id="246" name="Imagem 40" descr=""/>
          <p:cNvPicPr/>
          <p:nvPr/>
        </p:nvPicPr>
        <p:blipFill>
          <a:blip r:embed="rId2"/>
          <a:stretch/>
        </p:blipFill>
        <p:spPr>
          <a:xfrm>
            <a:off x="1627560" y="7769520"/>
            <a:ext cx="3883320" cy="462960"/>
          </a:xfrm>
          <a:prstGeom prst="rect">
            <a:avLst/>
          </a:prstGeom>
          <a:ln>
            <a:noFill/>
          </a:ln>
        </p:spPr>
      </p:pic>
      <p:sp>
        <p:nvSpPr>
          <p:cNvPr id="247" name="CustomShape 20"/>
          <p:cNvSpPr/>
          <p:nvPr/>
        </p:nvSpPr>
        <p:spPr>
          <a:xfrm>
            <a:off x="1020240" y="7353360"/>
            <a:ext cx="5098320" cy="1294920"/>
          </a:xfrm>
          <a:prstGeom prst="rect">
            <a:avLst/>
          </a:prstGeom>
          <a:noFill/>
          <a:ln>
            <a:solidFill>
              <a:srgbClr val="0f1507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48" name="CustomShape 21"/>
          <p:cNvSpPr/>
          <p:nvPr/>
        </p:nvSpPr>
        <p:spPr>
          <a:xfrm>
            <a:off x="17920440" y="9713160"/>
            <a:ext cx="233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311"/>
              </a:lnSpc>
            </a:pPr>
            <a:r>
              <a:rPr b="0" lang="en-US" sz="2400" spc="233" strike="noStrike">
                <a:solidFill>
                  <a:srgbClr val="231f20"/>
                </a:solidFill>
                <a:latin typeface="Lato"/>
                <a:ea typeface="Lato"/>
              </a:rPr>
              <a:t>7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49" name="CustomShape 22"/>
          <p:cNvSpPr/>
          <p:nvPr/>
        </p:nvSpPr>
        <p:spPr>
          <a:xfrm>
            <a:off x="11710800" y="6984360"/>
            <a:ext cx="5556600" cy="1950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3200" spc="-1" strike="noStrike">
                <a:solidFill>
                  <a:srgbClr val="231f20"/>
                </a:solidFill>
                <a:latin typeface="Montserrat"/>
                <a:ea typeface="Noto Sans"/>
              </a:rPr>
              <a:t>Backprop with intermediate negative activations and gradients zeroed out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50" name="CustomShape 23"/>
          <p:cNvSpPr/>
          <p:nvPr/>
        </p:nvSpPr>
        <p:spPr>
          <a:xfrm>
            <a:off x="5970240" y="3639240"/>
            <a:ext cx="1164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chemeClr val="dk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51" name="Group 24"/>
          <p:cNvGrpSpPr/>
          <p:nvPr/>
        </p:nvGrpSpPr>
        <p:grpSpPr>
          <a:xfrm>
            <a:off x="12713760" y="2747520"/>
            <a:ext cx="2590920" cy="1981080"/>
            <a:chOff x="12713760" y="2747520"/>
            <a:chExt cx="2590920" cy="1981080"/>
          </a:xfrm>
        </p:grpSpPr>
        <p:sp>
          <p:nvSpPr>
            <p:cNvPr id="252" name="CustomShape 25"/>
            <p:cNvSpPr/>
            <p:nvPr/>
          </p:nvSpPr>
          <p:spPr>
            <a:xfrm>
              <a:off x="12733200" y="3018240"/>
              <a:ext cx="1466640" cy="455040"/>
            </a:xfrm>
            <a:prstGeom prst="rect">
              <a:avLst/>
            </a:prstGeom>
            <a:solidFill>
              <a:srgbClr val="da3434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/>
          </p:style>
        </p:sp>
        <p:sp>
          <p:nvSpPr>
            <p:cNvPr id="253" name="CustomShape 26"/>
            <p:cNvSpPr/>
            <p:nvPr/>
          </p:nvSpPr>
          <p:spPr>
            <a:xfrm>
              <a:off x="12762000" y="3590640"/>
              <a:ext cx="408600" cy="45504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54" name="CustomShape 27"/>
            <p:cNvSpPr/>
            <p:nvPr/>
          </p:nvSpPr>
          <p:spPr>
            <a:xfrm>
              <a:off x="12762000" y="4158360"/>
              <a:ext cx="2542320" cy="45504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ffectLst>
              <a:outerShdw algn="bl" blurRad="76200" dir="2700000" dist="12218" kx="-800400" rotWithShape="0" sy="-23000">
                <a:srgbClr val="000000">
                  <a:alpha val="2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255" name="Group 28"/>
            <p:cNvGrpSpPr/>
            <p:nvPr/>
          </p:nvGrpSpPr>
          <p:grpSpPr>
            <a:xfrm>
              <a:off x="12713760" y="2747520"/>
              <a:ext cx="2590920" cy="1981080"/>
              <a:chOff x="12713760" y="2747520"/>
              <a:chExt cx="2590920" cy="1981080"/>
            </a:xfrm>
          </p:grpSpPr>
          <p:sp>
            <p:nvSpPr>
              <p:cNvPr id="256" name="Line 29"/>
              <p:cNvSpPr/>
              <p:nvPr/>
            </p:nvSpPr>
            <p:spPr>
              <a:xfrm flipV="1">
                <a:off x="12732840" y="2747520"/>
                <a:ext cx="360" cy="1981080"/>
              </a:xfrm>
              <a:prstGeom prst="line">
                <a:avLst/>
              </a:prstGeom>
              <a:ln w="57240">
                <a:solidFill>
                  <a:srgbClr val="231f2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7" name="Line 30"/>
              <p:cNvSpPr/>
              <p:nvPr/>
            </p:nvSpPr>
            <p:spPr>
              <a:xfrm flipH="1">
                <a:off x="12713760" y="2747520"/>
                <a:ext cx="2590920" cy="360"/>
              </a:xfrm>
              <a:prstGeom prst="line">
                <a:avLst/>
              </a:prstGeom>
              <a:ln w="57240">
                <a:solidFill>
                  <a:srgbClr val="231f2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</p:grpSp>
      <p:sp>
        <p:nvSpPr>
          <p:cNvPr id="258" name="CustomShape 31"/>
          <p:cNvSpPr/>
          <p:nvPr/>
        </p:nvSpPr>
        <p:spPr>
          <a:xfrm>
            <a:off x="15670800" y="3285360"/>
            <a:ext cx="123012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1" lang="en-US" sz="4000" spc="-1" strike="noStrike">
                <a:solidFill>
                  <a:srgbClr val="231f20"/>
                </a:solidFill>
                <a:latin typeface="Montserrat"/>
                <a:ea typeface="Noto Sans"/>
              </a:rPr>
              <a:t>Dog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59" name="CustomShape 32"/>
          <p:cNvSpPr/>
          <p:nvPr/>
        </p:nvSpPr>
        <p:spPr>
          <a:xfrm>
            <a:off x="11128320" y="3626640"/>
            <a:ext cx="11646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chemeClr val="dk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CustomShape 33"/>
          <p:cNvSpPr/>
          <p:nvPr/>
        </p:nvSpPr>
        <p:spPr>
          <a:xfrm>
            <a:off x="609120" y="651960"/>
            <a:ext cx="707256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TYPES OF SALIENCY MAPS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261" name="Imagem 38" descr=""/>
          <p:cNvPicPr/>
          <p:nvPr/>
        </p:nvPicPr>
        <p:blipFill>
          <a:blip r:embed="rId3"/>
          <a:stretch/>
        </p:blipFill>
        <p:spPr>
          <a:xfrm>
            <a:off x="16901280" y="128160"/>
            <a:ext cx="1230120" cy="520920"/>
          </a:xfrm>
          <a:prstGeom prst="rect">
            <a:avLst/>
          </a:prstGeom>
          <a:ln>
            <a:noFill/>
          </a:ln>
        </p:spPr>
      </p:pic>
      <p:pic>
        <p:nvPicPr>
          <p:cNvPr id="262" name="Imagem 2" descr=""/>
          <p:cNvPicPr/>
          <p:nvPr/>
        </p:nvPicPr>
        <p:blipFill>
          <a:blip r:embed="rId4"/>
          <a:stretch/>
        </p:blipFill>
        <p:spPr>
          <a:xfrm>
            <a:off x="2516760" y="2247840"/>
            <a:ext cx="3001680" cy="30099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17920440" y="9713160"/>
            <a:ext cx="233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311"/>
              </a:lnSpc>
            </a:pPr>
            <a:r>
              <a:rPr b="0" lang="en-US" sz="2400" spc="233" strike="noStrike">
                <a:solidFill>
                  <a:srgbClr val="231f20"/>
                </a:solidFill>
                <a:latin typeface="Lato"/>
                <a:ea typeface="Lato"/>
              </a:rPr>
              <a:t>7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581040" y="651960"/>
            <a:ext cx="167292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DEMO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265" name="Imagem 38" descr=""/>
          <p:cNvPicPr/>
          <p:nvPr/>
        </p:nvPicPr>
        <p:blipFill>
          <a:blip r:embed="rId1"/>
          <a:stretch/>
        </p:blipFill>
        <p:spPr>
          <a:xfrm>
            <a:off x="16901280" y="128160"/>
            <a:ext cx="1230120" cy="520920"/>
          </a:xfrm>
          <a:prstGeom prst="rect">
            <a:avLst/>
          </a:prstGeom>
          <a:ln>
            <a:noFill/>
          </a:ln>
        </p:spPr>
      </p:pic>
      <p:sp>
        <p:nvSpPr>
          <p:cNvPr id="266" name="CustomShape 3"/>
          <p:cNvSpPr/>
          <p:nvPr/>
        </p:nvSpPr>
        <p:spPr>
          <a:xfrm>
            <a:off x="2661840" y="1555200"/>
            <a:ext cx="1218960" cy="30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231f20"/>
                </a:solidFill>
                <a:latin typeface="Montserrat"/>
                <a:ea typeface="Noto Sans"/>
              </a:rPr>
              <a:t>Original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67" name="CustomShape 4"/>
          <p:cNvSpPr/>
          <p:nvPr/>
        </p:nvSpPr>
        <p:spPr>
          <a:xfrm>
            <a:off x="6319440" y="1555200"/>
            <a:ext cx="1904760" cy="30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231f20"/>
                </a:solidFill>
                <a:latin typeface="Montserrat"/>
                <a:ea typeface="Noto Sans"/>
              </a:rPr>
              <a:t>Gradient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68" name="CustomShape 5"/>
          <p:cNvSpPr/>
          <p:nvPr/>
        </p:nvSpPr>
        <p:spPr>
          <a:xfrm>
            <a:off x="14472720" y="1555200"/>
            <a:ext cx="2361960" cy="30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231f20"/>
                </a:solidFill>
                <a:latin typeface="Montserrat"/>
                <a:ea typeface="Noto Sans"/>
              </a:rPr>
              <a:t>Guided Backprop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69" name="Imagem 45" descr=""/>
          <p:cNvPicPr/>
          <p:nvPr/>
        </p:nvPicPr>
        <p:blipFill>
          <a:blip r:embed="rId2"/>
          <a:srcRect l="0" t="6041" r="0" b="0"/>
          <a:stretch/>
        </p:blipFill>
        <p:spPr>
          <a:xfrm>
            <a:off x="1097280" y="2103120"/>
            <a:ext cx="16354080" cy="4038120"/>
          </a:xfrm>
          <a:prstGeom prst="rect">
            <a:avLst/>
          </a:prstGeom>
          <a:ln>
            <a:noFill/>
          </a:ln>
        </p:spPr>
      </p:pic>
      <p:sp>
        <p:nvSpPr>
          <p:cNvPr id="270" name="CustomShape 6"/>
          <p:cNvSpPr/>
          <p:nvPr/>
        </p:nvSpPr>
        <p:spPr>
          <a:xfrm>
            <a:off x="10510560" y="1559880"/>
            <a:ext cx="1904760" cy="30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231f20"/>
                </a:solidFill>
                <a:latin typeface="Montserrat"/>
                <a:ea typeface="Noto Sans"/>
              </a:rPr>
              <a:t>SmoothGrad</a:t>
            </a:r>
            <a:endParaRPr b="0" lang="en-US" sz="2000" spc="-1" strike="noStrike">
              <a:latin typeface="Arial"/>
            </a:endParaRPr>
          </a:p>
        </p:txBody>
      </p:sp>
      <p:pic>
        <p:nvPicPr>
          <p:cNvPr id="271" name="Imagem 45" descr=""/>
          <p:cNvPicPr/>
          <p:nvPr/>
        </p:nvPicPr>
        <p:blipFill>
          <a:blip r:embed="rId3"/>
          <a:srcRect l="0" t="6041" r="0" b="0"/>
          <a:stretch/>
        </p:blipFill>
        <p:spPr>
          <a:xfrm>
            <a:off x="1202400" y="3657600"/>
            <a:ext cx="16354080" cy="40381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17920440" y="9713160"/>
            <a:ext cx="233280" cy="420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spAutoFit/>
          </a:bodyPr>
          <a:p>
            <a:pPr>
              <a:lnSpc>
                <a:spcPts val="3311"/>
              </a:lnSpc>
            </a:pPr>
            <a:r>
              <a:rPr b="0" lang="en-US" sz="2400" spc="233" strike="noStrike">
                <a:solidFill>
                  <a:srgbClr val="231f20"/>
                </a:solidFill>
                <a:latin typeface="Lato"/>
                <a:ea typeface="Lato"/>
              </a:rPr>
              <a:t>7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73" name="Imagem 38" descr=""/>
          <p:cNvPicPr/>
          <p:nvPr/>
        </p:nvPicPr>
        <p:blipFill>
          <a:blip r:embed="rId1"/>
          <a:stretch/>
        </p:blipFill>
        <p:spPr>
          <a:xfrm>
            <a:off x="16901280" y="128160"/>
            <a:ext cx="1230120" cy="520920"/>
          </a:xfrm>
          <a:prstGeom prst="rect">
            <a:avLst/>
          </a:prstGeom>
          <a:ln>
            <a:noFill/>
          </a:ln>
        </p:spPr>
      </p:pic>
      <p:sp>
        <p:nvSpPr>
          <p:cNvPr id="274" name="CustomShape 2"/>
          <p:cNvSpPr/>
          <p:nvPr/>
        </p:nvSpPr>
        <p:spPr>
          <a:xfrm>
            <a:off x="583920" y="669960"/>
            <a:ext cx="234216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R</a:t>
            </a: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ES</a:t>
            </a: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UL</a:t>
            </a:r>
            <a:r>
              <a:rPr b="1" lang="en-US" sz="4000" spc="-1" strike="noStrike">
                <a:solidFill>
                  <a:srgbClr val="b22232"/>
                </a:solidFill>
                <a:latin typeface="Montserrat"/>
                <a:ea typeface="Noto Sans"/>
              </a:rPr>
              <a:t>TS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75" name="CustomShape 3"/>
          <p:cNvSpPr/>
          <p:nvPr/>
        </p:nvSpPr>
        <p:spPr>
          <a:xfrm>
            <a:off x="565920" y="1919520"/>
            <a:ext cx="16807680" cy="438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Gradient saliency maps show pixels that influence the output. It's worth noting that: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- Flat regions receive little or no assignment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- While important, these areas can be ignored by the gradient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- The importance of a pixel is measured by how much the model's output changes if it is changed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- Pixels that barely affect the output are considered irrelevant, even if they are semantically important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Gradients capture local sensitivity: how much each pixel affects the output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- Global completeness requires that the sum of the importances reflect the total output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- It is impossible to satisfy both simultaneously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231f20"/>
                </a:solidFill>
                <a:latin typeface="Montserrat"/>
                <a:ea typeface="Noto Sans"/>
              </a:rPr>
              <a:t>- Globally important pixels may have zero gradient locally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2245</TotalTime>
  <Application>LibreOffice/6.1.6.3$Linux_X86_64 LibreOffice_project/10$Build-3</Application>
  <Words>211</Words>
  <Paragraphs>66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2025-10-23T14:12:38Z</dcterms:modified>
  <cp:revision>7</cp:revision>
  <dc:subject/>
  <dc:title>TCC v2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7</vt:i4>
  </property>
  <property fmtid="{D5CDD505-2E9C-101B-9397-08002B2CF9AE}" pid="8" name="PresentationFormat">
    <vt:lpwstr>Personalizar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11</vt:i4>
  </property>
</Properties>
</file>